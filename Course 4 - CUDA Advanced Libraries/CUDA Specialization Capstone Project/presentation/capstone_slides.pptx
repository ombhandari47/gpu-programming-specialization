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Om Bhandari, and this is my capstone project for the GPU Programming specialization: a CUDA batch image processor. It processes hundreds of images with seven different image-processing operations, all implemented as hand-written CUDA kernels. In the next few minutes I'll show you the architecture, the two most interesting kernels, how I verify GPU correctness against a CPU reference, and how the whole thing runs at scale.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 I build this? My goal for this specialization was to learn to write real CUDA, not just call libraries. So every operation here is a hand-written kernel - there is no NPP anywhere. Image processing is a perfect domain for that: it is embarrassingly parallel, performance is easy to reason about, and I can prove correctness both visually and numerically. The project covers both data-volume shapes the course asks for - hundreds of small inputs and tens of large inputs - and I made correctness verification a first-class feature, which I'll show later.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tool itself is a command-line program. You point it at a directory, and it runs seven operations on every image: grayscale conversion, inversion, brightness-contrast, Gaussian blur, Sobel edge detection, unsharp-mask sharpening, and - new for the capstone - histogram equalization. Every image also gets a 256-bin histogram with statistics. It writes one PNG per operation plus a detailed log with CUDA-event kernel timings and throughput, and around twenty command-line flags control everything: which operations run, the blur sigma, the CUDA block size, which GPU, and so on. On the right you can see a sample input and three outputs: the Sobel edges, the blur, and the equalized version.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architecture. main.cpp handles the command line, batching and logging. gpu_pipeline.cu is the only file that talks to the CUDA runtime - it manages device memory and launches kernels. All nine kernels live in one self-contained header. The CPU reference sits beside it for verification, and image I/O uses the public-domain stb libraries. Two decisions worth calling out: first, the GPU pipeline exposes a CUDA-free interface, so everything else compiles with a plain C++ compiler - that also gives me a debug build that runs the pipeline logic without a GPU. Second, device buffers are allocated once and reused across the entire batch, so a 256-image run allocates memory only when it sees a bigger image than before.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gallery of the kernels. The point operations map one thread to one pixel. The Gaussian blur is the most interesting - I'll zoom into it next. Sobel is a classic 3x3 gradient with edge-replicated borders. Sharpening reuses the blur: it's the input plus a weighted difference between the input and its blurred copy. The histogram kernel uses a grid-stride loop with global atomics, and equalization is a table-lookup kernel driven by that histogram. Note the block size is itself a command-line tunable, and all kernels handle arbitrary image dimensions, including images smaller than a single block.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blur is where the real engineering went. A 2-D Gaussian is separable, so I split it into a horizontal and a vertical pass. In each pass, every thread block stages a rectangular tile plus a halo region into shared memory - that way every input byte is read from global memory exactly once per pass, and all the overlapping reads between neighboring threads come from shared memory instead. The intermediate result is kept as float4 to avoid rounding loss between the two passes, and the radius is capped at 15 so shared memory always fits the 48-kilobyte default. And rather than guessing the block size, I benchmark it - the bench mode sweeps tile sizes 8, 16 and 32 and writes the results to a CSV.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for the capstone: histogram equalization, which turned my histogram kernel from a statistics generator into a real processing step. The pipeline: the GPU computes the 256-bin histogram with atomics; the bins are downloaded; the host builds the cumulative distribution and from it a 256-entry lookup table; the table goes back up, and a trivial gather kernel applies it. The key correctness trick: the LUT is built by the exact same host function the CPU reference uses, so the GPU result is bit-exact - and I validated it against an independent NumPy implementation with zero difference. The visual effect is a dramatic contrast stretch - on this low-contrast plasma pattern the pixel standard deviation goes from 16.5 to 73.6.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I know the kernels are right? Three levels. First, a verify flag recomputes every operation with a CPU reference and reports the maximum pixel difference - the tolerances, one to three out of 255, only allow floating-point contraction differences. Second, during development I validated the CPU reference itself against an independent NumPy implementation. Third - because my development machine has no NVIDIA driver - I wrote a test that transcribes the kernels' exact indexing into host loops and compares with the reference; all eight configurations match bit-exactly. The subtle part was rounding: the device's float-to-int conversion rounds ties to even, so the host reference uses lrintf to match it exactly.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also added a benchmarking subsystem. The bench flag writes a CSV with one row per image and operation, containing the CUDA-event GPU time and the CPU reference time side by side - which makes the speedup directly measurable. In GPU mode it also sweeps the blur tile size across 8, 16 and 32 to show the effect of the shared-memory tiling. The table shows the single-threaded CPU reference numbers from my development machine; before recording this presentation I'll fill in the GPU column from the lab run's benchmark CSV - that's the one placeholder left in these slides.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scale: two datasets cover both shapes the course requires - 256 small images totalling 37 megapixels, and 24 large images up to 2048 by 2048, totalling another 79 megapixels. They come from a deterministic generator, so the exact same data is reproducible in the lab with no internet. One command - run_lab.sh - builds everything, runs a kernel-emulation pre-flight test, processes both datasets with verification, runs the benchmark pass, and collects all the evidence into the results directory, which is committed to the repository. One fun lesson: my first generator produced palettes that could be nearly invisible in grayscale, so I constrained it to high-luma-contrast colors.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lessons. Rounding semantics matter if you want CPU and GPU to agree. FMA contraction causes small, legitimate differences - so verify with tolerances, not strict equality. Shared-memory tiling is the single biggest win for convolution-style kernels - it removed the radius-fold global-memory amplification. GPU event time and wall time answer different questions, so the log reports both. Toolchains matter: a bleeding-edge glibc actually declares sinpi and cospi in a way that clashes with CUDA's own math headers. And finally, design for testability - the CUDA-free interface is what made the kernel emulation test possible at all.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a quick demo of what you just heard about: one command processes the whole small dataset with verification - the log prints the GPU, per-operation kernel times, and the verification table ending in 'all operations pass'. The before-and-after image pairs and the benchmark CSV are committed alongside the code. Everything is in my GitHub repository - the code, both datasets, the run logs and these slides. Thank you very much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20240"/>
            <a:ext cx="10515600" cy="1005840"/>
          </a:xfrm>
          <a:prstGeom prst="rect">
            <a:avLst/>
          </a:prstGeom>
          <a:noFill/>
        </p:spPr>
        <p:txBody>
          <a:bodyPr wrap="square">
            <a:spAutoFit/>
          </a:bodyPr>
          <a:lstStyle/>
          <a:p>
            <a:pPr algn="ctr"/>
            <a:r>
              <a:rPr sz="4400" b="1">
                <a:solidFill>
                  <a:srgbClr val="FFFFFF"/>
                </a:solidFill>
                <a:latin typeface="Calibri"/>
              </a:rPr>
              <a:t>CUDA Batch Image Processor</a:t>
            </a:r>
          </a:p>
        </p:txBody>
      </p:sp>
      <p:sp>
        <p:nvSpPr>
          <p:cNvPr id="4" name="TextBox 3"/>
          <p:cNvSpPr txBox="1"/>
          <p:nvPr/>
        </p:nvSpPr>
        <p:spPr>
          <a:xfrm>
            <a:off x="822960" y="2971800"/>
            <a:ext cx="10515600" cy="822960"/>
          </a:xfrm>
          <a:prstGeom prst="rect">
            <a:avLst/>
          </a:prstGeom>
          <a:noFill/>
        </p:spPr>
        <p:txBody>
          <a:bodyPr wrap="square">
            <a:spAutoFit/>
          </a:bodyPr>
          <a:lstStyle/>
          <a:p>
            <a:pPr algn="ctr"/>
            <a:r>
              <a:rPr sz="2200" b="0">
                <a:solidFill>
                  <a:srgbClr val="FCA311"/>
                </a:solidFill>
                <a:latin typeface="Calibri"/>
              </a:rPr>
              <a:t>Processing hundreds of images with hand-written CUDA kernels</a:t>
            </a:r>
          </a:p>
        </p:txBody>
      </p:sp>
      <p:sp>
        <p:nvSpPr>
          <p:cNvPr id="5" name="TextBox 4"/>
          <p:cNvSpPr txBox="1"/>
          <p:nvPr/>
        </p:nvSpPr>
        <p:spPr>
          <a:xfrm>
            <a:off x="822960" y="4206240"/>
            <a:ext cx="10515600" cy="457200"/>
          </a:xfrm>
          <a:prstGeom prst="rect">
            <a:avLst/>
          </a:prstGeom>
          <a:noFill/>
        </p:spPr>
        <p:txBody>
          <a:bodyPr wrap="square">
            <a:spAutoFit/>
          </a:bodyPr>
          <a:lstStyle/>
          <a:p>
            <a:pPr algn="ctr"/>
            <a:r>
              <a:rPr sz="1600" b="0">
                <a:solidFill>
                  <a:srgbClr val="F0F2F5"/>
                </a:solidFill>
                <a:latin typeface="Calibri"/>
              </a:rPr>
              <a:t>GPU Programming Specialization — Capstone Project</a:t>
            </a:r>
          </a:p>
        </p:txBody>
      </p:sp>
      <p:sp>
        <p:nvSpPr>
          <p:cNvPr id="6" name="TextBox 5"/>
          <p:cNvSpPr txBox="1"/>
          <p:nvPr/>
        </p:nvSpPr>
        <p:spPr>
          <a:xfrm>
            <a:off x="822960" y="4709160"/>
            <a:ext cx="10515600" cy="457200"/>
          </a:xfrm>
          <a:prstGeom prst="rect">
            <a:avLst/>
          </a:prstGeom>
          <a:noFill/>
        </p:spPr>
        <p:txBody>
          <a:bodyPr wrap="square">
            <a:spAutoFit/>
          </a:bodyPr>
          <a:lstStyle/>
          <a:p>
            <a:pPr algn="ctr"/>
            <a:r>
              <a:rPr sz="1600" b="0">
                <a:solidFill>
                  <a:srgbClr val="F0F2F5"/>
                </a:solidFill>
                <a:latin typeface="Calibri"/>
              </a:rPr>
              <a:t>Om Bhandari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247120" cy="731520"/>
          </a:xfrm>
          <a:prstGeom prst="rect">
            <a:avLst/>
          </a:prstGeom>
          <a:noFill/>
        </p:spPr>
        <p:txBody>
          <a:bodyPr wrap="square">
            <a:spAutoFit/>
          </a:bodyPr>
          <a:lstStyle/>
          <a:p>
            <a:pPr algn="l"/>
            <a:r>
              <a:rPr sz="3000" b="1">
                <a:solidFill>
                  <a:srgbClr val="FFFFFF"/>
                </a:solidFill>
                <a:latin typeface="Calibri"/>
              </a:rPr>
              <a:t>Why this project</a:t>
            </a:r>
          </a:p>
        </p:txBody>
      </p:sp>
      <p:sp>
        <p:nvSpPr>
          <p:cNvPr id="4" name="TextBox 3"/>
          <p:cNvSpPr txBox="1"/>
          <p:nvPr/>
        </p:nvSpPr>
        <p:spPr>
          <a:xfrm>
            <a:off x="640080" y="1371600"/>
            <a:ext cx="10881360" cy="4937760"/>
          </a:xfrm>
          <a:prstGeom prst="rect">
            <a:avLst/>
          </a:prstGeom>
          <a:noFill/>
        </p:spPr>
        <p:txBody>
          <a:bodyPr wrap="square">
            <a:spAutoFit/>
          </a:bodyPr>
          <a:lstStyle/>
          <a:p>
            <a:pPr>
              <a:spcAft>
                <a:spcPts val="600"/>
              </a:spcAft>
            </a:pPr>
            <a:r>
              <a:rPr sz="1800" b="1">
                <a:solidFill>
                  <a:srgbClr val="14213D"/>
                </a:solidFill>
                <a:latin typeface="Calibri"/>
              </a:rPr>
              <a:t>• Personal goal: write production-quality CUDA, not just call libraries</a:t>
            </a:r>
          </a:p>
          <a:p>
            <a:pPr>
              <a:spcAft>
                <a:spcPts val="600"/>
              </a:spcAft>
            </a:pPr>
            <a:r>
              <a:rPr sz="1500">
                <a:solidFill>
                  <a:srgbClr val="5A5F6B"/>
                </a:solidFill>
                <a:latin typeface="Calibri"/>
              </a:rPr>
              <a:t>     Every operation is a custom kernel in kernels.cuh — no NPP, no OpenCV; only the CUDA runtime and two public-domain stb headers for image I/O</a:t>
            </a:r>
          </a:p>
          <a:p>
            <a:pPr>
              <a:spcAft>
                <a:spcPts val="600"/>
              </a:spcAft>
            </a:pPr>
            <a:r>
              <a:rPr sz="1800" b="1">
                <a:solidFill>
                  <a:srgbClr val="14213D"/>
                </a:solidFill>
                <a:latin typeface="Calibri"/>
              </a:rPr>
              <a:t>• Image processing is ideal for GPU learning</a:t>
            </a:r>
          </a:p>
          <a:p>
            <a:pPr>
              <a:spcAft>
                <a:spcPts val="600"/>
              </a:spcAft>
            </a:pPr>
            <a:r>
              <a:rPr sz="1500">
                <a:solidFill>
                  <a:srgbClr val="5A5F6B"/>
                </a:solidFill>
                <a:latin typeface="Calibri"/>
              </a:rPr>
              <a:t>     Embarrassingly parallel, easy to reason about performance, and results can be verified both visually and numerically</a:t>
            </a:r>
          </a:p>
          <a:p>
            <a:pPr>
              <a:spcAft>
                <a:spcPts val="600"/>
              </a:spcAft>
            </a:pPr>
            <a:r>
              <a:rPr sz="1800" b="1">
                <a:solidFill>
                  <a:srgbClr val="14213D"/>
                </a:solidFill>
                <a:latin typeface="Calibri"/>
              </a:rPr>
              <a:t>• Both required data shapes in one project</a:t>
            </a:r>
          </a:p>
          <a:p>
            <a:pPr>
              <a:spcAft>
                <a:spcPts val="600"/>
              </a:spcAft>
            </a:pPr>
            <a:r>
              <a:rPr sz="1500">
                <a:solidFill>
                  <a:srgbClr val="5A5F6B"/>
                </a:solidFill>
                <a:latin typeface="Calibri"/>
              </a:rPr>
              <a:t>     256 small images (256–512 px, 37 Mpx total) and 24 large images (1536–2048 px, 79 Mpx total)</a:t>
            </a:r>
          </a:p>
          <a:p>
            <a:pPr>
              <a:spcAft>
                <a:spcPts val="600"/>
              </a:spcAft>
            </a:pPr>
            <a:r>
              <a:rPr sz="1800" b="1">
                <a:solidFill>
                  <a:srgbClr val="14213D"/>
                </a:solidFill>
                <a:latin typeface="Calibri"/>
              </a:rPr>
              <a:t>• Correctness engineering as a first-class concern</a:t>
            </a:r>
          </a:p>
          <a:p>
            <a:pPr>
              <a:spcAft>
                <a:spcPts val="600"/>
              </a:spcAft>
            </a:pPr>
            <a:r>
              <a:rPr sz="1500">
                <a:solidFill>
                  <a:srgbClr val="5A5F6B"/>
                </a:solidFill>
                <a:latin typeface="Calibri"/>
              </a:rPr>
              <a:t>     CPU reference implementation + automated GPU-vs-CPU verification on every run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247120" cy="731520"/>
          </a:xfrm>
          <a:prstGeom prst="rect">
            <a:avLst/>
          </a:prstGeom>
          <a:noFill/>
        </p:spPr>
        <p:txBody>
          <a:bodyPr wrap="square">
            <a:spAutoFit/>
          </a:bodyPr>
          <a:lstStyle/>
          <a:p>
            <a:pPr algn="l"/>
            <a:r>
              <a:rPr sz="3000" b="1">
                <a:solidFill>
                  <a:srgbClr val="FFFFFF"/>
                </a:solidFill>
                <a:latin typeface="Calibri"/>
              </a:rPr>
              <a:t>What the tool does</a:t>
            </a:r>
          </a:p>
        </p:txBody>
      </p:sp>
      <p:sp>
        <p:nvSpPr>
          <p:cNvPr id="4" name="TextBox 3"/>
          <p:cNvSpPr txBox="1"/>
          <p:nvPr/>
        </p:nvSpPr>
        <p:spPr>
          <a:xfrm>
            <a:off x="640080" y="1280160"/>
            <a:ext cx="6766560" cy="5120640"/>
          </a:xfrm>
          <a:prstGeom prst="rect">
            <a:avLst/>
          </a:prstGeom>
          <a:noFill/>
        </p:spPr>
        <p:txBody>
          <a:bodyPr wrap="square">
            <a:spAutoFit/>
          </a:bodyPr>
          <a:lstStyle/>
          <a:p>
            <a:pPr>
              <a:spcAft>
                <a:spcPts val="600"/>
              </a:spcAft>
            </a:pPr>
            <a:r>
              <a:rPr sz="1800">
                <a:solidFill>
                  <a:srgbClr val="14213D"/>
                </a:solidFill>
                <a:latin typeface="Calibri"/>
              </a:rPr>
              <a:t>• Command-line tool: walks a directory of PNG/JPG/BMP/TGA images</a:t>
            </a:r>
          </a:p>
          <a:p>
            <a:pPr>
              <a:spcAft>
                <a:spcPts val="600"/>
              </a:spcAft>
            </a:pPr>
            <a:r>
              <a:rPr sz="1800">
                <a:solidFill>
                  <a:srgbClr val="14213D"/>
                </a:solidFill>
                <a:latin typeface="Calibri"/>
              </a:rPr>
              <a:t>• Runs 7 operations on every image: gray, invert, brighten, blur, sobel, sharpen, equalize</a:t>
            </a:r>
          </a:p>
          <a:p>
            <a:pPr>
              <a:spcAft>
                <a:spcPts val="600"/>
              </a:spcAft>
            </a:pPr>
            <a:r>
              <a:rPr sz="1800">
                <a:solidFill>
                  <a:srgbClr val="14213D"/>
                </a:solidFill>
                <a:latin typeface="Calibri"/>
              </a:rPr>
              <a:t>• Plus a 256-bin gray histogram with min / max / mean statistics</a:t>
            </a:r>
          </a:p>
          <a:p>
            <a:pPr>
              <a:spcAft>
                <a:spcPts val="600"/>
              </a:spcAft>
            </a:pPr>
            <a:r>
              <a:rPr sz="1800">
                <a:solidFill>
                  <a:srgbClr val="14213D"/>
                </a:solidFill>
                <a:latin typeface="Calibri"/>
              </a:rPr>
              <a:t>• Writes one output PNG per operation + a detailed run log</a:t>
            </a:r>
          </a:p>
          <a:p>
            <a:pPr>
              <a:spcAft>
                <a:spcPts val="600"/>
              </a:spcAft>
            </a:pPr>
            <a:r>
              <a:rPr sz="1800">
                <a:solidFill>
                  <a:srgbClr val="14213D"/>
                </a:solidFill>
                <a:latin typeface="Calibri"/>
              </a:rPr>
              <a:t>• Log includes CUDA-event kernel times, per-image statistics, throughput</a:t>
            </a:r>
          </a:p>
          <a:p>
            <a:pPr>
              <a:spcAft>
                <a:spcPts val="600"/>
              </a:spcAft>
            </a:pPr>
            <a:r>
              <a:rPr sz="1800">
                <a:solidFill>
                  <a:srgbClr val="14213D"/>
                </a:solidFill>
                <a:latin typeface="Calibri"/>
              </a:rPr>
              <a:t>• ~20 command-line flags: operations, sigma, tile size, device, limit, verify, bench ...</a:t>
            </a:r>
          </a:p>
        </p:txBody>
      </p:sp>
      <p:pic>
        <p:nvPicPr>
          <p:cNvPr id="5" name="Picture 4" descr="img_0001_rings_320x320.png"/>
          <p:cNvPicPr>
            <a:picLocks noChangeAspect="1"/>
          </p:cNvPicPr>
          <p:nvPr/>
        </p:nvPicPr>
        <p:blipFill>
          <a:blip r:embed="rId2"/>
          <a:stretch>
            <a:fillRect/>
          </a:stretch>
        </p:blipFill>
        <p:spPr>
          <a:xfrm>
            <a:off x="7863840" y="1463040"/>
            <a:ext cx="2103120" cy="2103120"/>
          </a:xfrm>
          <a:prstGeom prst="rect">
            <a:avLst/>
          </a:prstGeom>
        </p:spPr>
      </p:pic>
      <p:sp>
        <p:nvSpPr>
          <p:cNvPr id="6" name="TextBox 5"/>
          <p:cNvSpPr txBox="1"/>
          <p:nvPr/>
        </p:nvSpPr>
        <p:spPr>
          <a:xfrm>
            <a:off x="7863840" y="3611880"/>
            <a:ext cx="2103120" cy="292608"/>
          </a:xfrm>
          <a:prstGeom prst="rect">
            <a:avLst/>
          </a:prstGeom>
          <a:noFill/>
        </p:spPr>
        <p:txBody>
          <a:bodyPr wrap="square">
            <a:spAutoFit/>
          </a:bodyPr>
          <a:lstStyle/>
          <a:p>
            <a:pPr algn="ctr"/>
            <a:r>
              <a:rPr sz="1200" b="0">
                <a:solidFill>
                  <a:srgbClr val="5A5F6B"/>
                </a:solidFill>
                <a:latin typeface="Calibri"/>
              </a:rPr>
              <a:t>input image</a:t>
            </a:r>
          </a:p>
        </p:txBody>
      </p:sp>
      <p:pic>
        <p:nvPicPr>
          <p:cNvPr id="7" name="Picture 6" descr="img_0001_rings_320x320_sobel.png"/>
          <p:cNvPicPr>
            <a:picLocks noChangeAspect="1"/>
          </p:cNvPicPr>
          <p:nvPr/>
        </p:nvPicPr>
        <p:blipFill>
          <a:blip r:embed="rId3"/>
          <a:stretch>
            <a:fillRect/>
          </a:stretch>
        </p:blipFill>
        <p:spPr>
          <a:xfrm>
            <a:off x="10058400" y="1463040"/>
            <a:ext cx="2103120" cy="2103120"/>
          </a:xfrm>
          <a:prstGeom prst="rect">
            <a:avLst/>
          </a:prstGeom>
        </p:spPr>
      </p:pic>
      <p:sp>
        <p:nvSpPr>
          <p:cNvPr id="8" name="TextBox 7"/>
          <p:cNvSpPr txBox="1"/>
          <p:nvPr/>
        </p:nvSpPr>
        <p:spPr>
          <a:xfrm>
            <a:off x="10058400" y="3611880"/>
            <a:ext cx="2103120" cy="292608"/>
          </a:xfrm>
          <a:prstGeom prst="rect">
            <a:avLst/>
          </a:prstGeom>
          <a:noFill/>
        </p:spPr>
        <p:txBody>
          <a:bodyPr wrap="square">
            <a:spAutoFit/>
          </a:bodyPr>
          <a:lstStyle/>
          <a:p>
            <a:pPr algn="ctr"/>
            <a:r>
              <a:rPr sz="1200" b="0">
                <a:solidFill>
                  <a:srgbClr val="5A5F6B"/>
                </a:solidFill>
                <a:latin typeface="Calibri"/>
              </a:rPr>
              <a:t>sobel (edges) output</a:t>
            </a:r>
          </a:p>
        </p:txBody>
      </p:sp>
      <p:pic>
        <p:nvPicPr>
          <p:cNvPr id="9" name="Picture 8" descr="img_0001_rings_320x320_blur.png"/>
          <p:cNvPicPr>
            <a:picLocks noChangeAspect="1"/>
          </p:cNvPicPr>
          <p:nvPr/>
        </p:nvPicPr>
        <p:blipFill>
          <a:blip r:embed="rId4"/>
          <a:stretch>
            <a:fillRect/>
          </a:stretch>
        </p:blipFill>
        <p:spPr>
          <a:xfrm>
            <a:off x="7863840" y="4114800"/>
            <a:ext cx="2103120" cy="2103120"/>
          </a:xfrm>
          <a:prstGeom prst="rect">
            <a:avLst/>
          </a:prstGeom>
        </p:spPr>
      </p:pic>
      <p:sp>
        <p:nvSpPr>
          <p:cNvPr id="10" name="TextBox 9"/>
          <p:cNvSpPr txBox="1"/>
          <p:nvPr/>
        </p:nvSpPr>
        <p:spPr>
          <a:xfrm>
            <a:off x="7863840" y="6263640"/>
            <a:ext cx="2103120" cy="292608"/>
          </a:xfrm>
          <a:prstGeom prst="rect">
            <a:avLst/>
          </a:prstGeom>
          <a:noFill/>
        </p:spPr>
        <p:txBody>
          <a:bodyPr wrap="square">
            <a:spAutoFit/>
          </a:bodyPr>
          <a:lstStyle/>
          <a:p>
            <a:pPr algn="ctr"/>
            <a:r>
              <a:rPr sz="1200" b="0">
                <a:solidFill>
                  <a:srgbClr val="5A5F6B"/>
                </a:solidFill>
                <a:latin typeface="Calibri"/>
              </a:rPr>
              <a:t>gaussian blur output</a:t>
            </a:r>
          </a:p>
        </p:txBody>
      </p:sp>
      <p:pic>
        <p:nvPicPr>
          <p:cNvPr id="11" name="Picture 10" descr="img_0001_rings_320x320_equalize.png"/>
          <p:cNvPicPr>
            <a:picLocks noChangeAspect="1"/>
          </p:cNvPicPr>
          <p:nvPr/>
        </p:nvPicPr>
        <p:blipFill>
          <a:blip r:embed="rId5"/>
          <a:stretch>
            <a:fillRect/>
          </a:stretch>
        </p:blipFill>
        <p:spPr>
          <a:xfrm>
            <a:off x="10058400" y="4114800"/>
            <a:ext cx="2103120" cy="2103120"/>
          </a:xfrm>
          <a:prstGeom prst="rect">
            <a:avLst/>
          </a:prstGeom>
        </p:spPr>
      </p:pic>
      <p:sp>
        <p:nvSpPr>
          <p:cNvPr id="12" name="TextBox 11"/>
          <p:cNvSpPr txBox="1"/>
          <p:nvPr/>
        </p:nvSpPr>
        <p:spPr>
          <a:xfrm>
            <a:off x="10058400" y="6263640"/>
            <a:ext cx="2103120" cy="292608"/>
          </a:xfrm>
          <a:prstGeom prst="rect">
            <a:avLst/>
          </a:prstGeom>
          <a:noFill/>
        </p:spPr>
        <p:txBody>
          <a:bodyPr wrap="square">
            <a:spAutoFit/>
          </a:bodyPr>
          <a:lstStyle/>
          <a:p>
            <a:pPr algn="ctr"/>
            <a:r>
              <a:rPr sz="1200" b="0">
                <a:solidFill>
                  <a:srgbClr val="5A5F6B"/>
                </a:solidFill>
                <a:latin typeface="Calibri"/>
              </a:rPr>
              <a:t>equalized output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247120" cy="731520"/>
          </a:xfrm>
          <a:prstGeom prst="rect">
            <a:avLst/>
          </a:prstGeom>
          <a:noFill/>
        </p:spPr>
        <p:txBody>
          <a:bodyPr wrap="square">
            <a:spAutoFit/>
          </a:bodyPr>
          <a:lstStyle/>
          <a:p>
            <a:pPr algn="l"/>
            <a:r>
              <a:rPr sz="3000" b="1">
                <a:solidFill>
                  <a:srgbClr val="FFFFFF"/>
                </a:solidFill>
                <a:latin typeface="Calibri"/>
              </a:rPr>
              <a:t>Architecture</a:t>
            </a:r>
          </a:p>
        </p:txBody>
      </p:sp>
      <p:sp>
        <p:nvSpPr>
          <p:cNvPr id="4" name="Rounded Rectangle 3"/>
          <p:cNvSpPr/>
          <p:nvPr/>
        </p:nvSpPr>
        <p:spPr>
          <a:xfrm>
            <a:off x="502920" y="1554480"/>
            <a:ext cx="2148840" cy="914400"/>
          </a:xfrm>
          <a:prstGeom prst="roundRect">
            <a:avLst/>
          </a:prstGeom>
          <a:solidFill>
            <a:srgbClr val="5A5F6B"/>
          </a:solidFill>
          <a:ln>
            <a:solidFill>
              <a:srgbClr val="5A5F6B"/>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Calibri"/>
              </a:rPr>
              <a:t>Image files
(PNG/JPG/BMP/TGA)</a:t>
            </a:r>
          </a:p>
        </p:txBody>
      </p:sp>
      <p:sp>
        <p:nvSpPr>
          <p:cNvPr id="5" name="Right Arrow 4"/>
          <p:cNvSpPr/>
          <p:nvPr/>
        </p:nvSpPr>
        <p:spPr>
          <a:xfrm>
            <a:off x="2697480" y="1874519"/>
            <a:ext cx="384048" cy="274320"/>
          </a:xfrm>
          <a:prstGeom prst="rightArrow">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154680" y="1554480"/>
            <a:ext cx="2834640" cy="914400"/>
          </a:xfrm>
          <a:prstGeom prst="roundRect">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Calibri"/>
              </a:rPr>
              <a:t>main.cpp
CLI · batching · logging · CSV</a:t>
            </a:r>
          </a:p>
        </p:txBody>
      </p:sp>
      <p:sp>
        <p:nvSpPr>
          <p:cNvPr id="7" name="Right Arrow 6"/>
          <p:cNvSpPr/>
          <p:nvPr/>
        </p:nvSpPr>
        <p:spPr>
          <a:xfrm>
            <a:off x="6035040" y="1874519"/>
            <a:ext cx="384048" cy="274320"/>
          </a:xfrm>
          <a:prstGeom prst="rightArrow">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92240" y="1554480"/>
            <a:ext cx="2743200" cy="914400"/>
          </a:xfrm>
          <a:prstGeom prst="roundRect">
            <a:avLst/>
          </a:prstGeom>
          <a:solidFill>
            <a:srgbClr val="2B3A67"/>
          </a:solidFill>
          <a:ln>
            <a:solidFill>
              <a:srgbClr val="2B3A67"/>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Calibri"/>
              </a:rPr>
              <a:t>gpu_pipeline.cu
device memory · launches · event timing</a:t>
            </a:r>
          </a:p>
        </p:txBody>
      </p:sp>
      <p:sp>
        <p:nvSpPr>
          <p:cNvPr id="9" name="Right Arrow 8"/>
          <p:cNvSpPr/>
          <p:nvPr/>
        </p:nvSpPr>
        <p:spPr>
          <a:xfrm>
            <a:off x="9281160" y="1874519"/>
            <a:ext cx="384048" cy="274320"/>
          </a:xfrm>
          <a:prstGeom prst="rightArrow">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738360" y="1554480"/>
            <a:ext cx="2011680" cy="914400"/>
          </a:xfrm>
          <a:prstGeom prst="roundRect">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14213D"/>
                </a:solidFill>
                <a:latin typeface="Calibri"/>
              </a:rPr>
              <a:t>kernels.cuh
9 custom CUDA kernels</a:t>
            </a:r>
          </a:p>
        </p:txBody>
      </p:sp>
      <p:sp>
        <p:nvSpPr>
          <p:cNvPr id="11" name="Rounded Rectangle 10"/>
          <p:cNvSpPr/>
          <p:nvPr/>
        </p:nvSpPr>
        <p:spPr>
          <a:xfrm>
            <a:off x="3154680" y="3291840"/>
            <a:ext cx="2834640" cy="914400"/>
          </a:xfrm>
          <a:prstGeom prst="roundRect">
            <a:avLst/>
          </a:prstGeom>
          <a:solidFill>
            <a:srgbClr val="5A5F6B"/>
          </a:solidFill>
          <a:ln>
            <a:solidFill>
              <a:srgbClr val="5A5F6B"/>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Calibri"/>
              </a:rPr>
              <a:t>cpu_reference.cpp
--verify · --bench timings</a:t>
            </a:r>
          </a:p>
        </p:txBody>
      </p:sp>
      <p:sp>
        <p:nvSpPr>
          <p:cNvPr id="12" name="Rounded Rectangle 11"/>
          <p:cNvSpPr/>
          <p:nvPr/>
        </p:nvSpPr>
        <p:spPr>
          <a:xfrm>
            <a:off x="6492240" y="3291840"/>
            <a:ext cx="2743200" cy="914400"/>
          </a:xfrm>
          <a:prstGeom prst="roundRect">
            <a:avLst/>
          </a:prstGeom>
          <a:solidFill>
            <a:srgbClr val="5A5F6B"/>
          </a:solidFill>
          <a:ln>
            <a:solidFill>
              <a:srgbClr val="5A5F6B"/>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Calibri"/>
              </a:rPr>
              <a:t>image_io.cpp
stb (public domain)</a:t>
            </a:r>
          </a:p>
        </p:txBody>
      </p:sp>
      <p:sp>
        <p:nvSpPr>
          <p:cNvPr id="13" name="Right Arrow 12"/>
          <p:cNvSpPr/>
          <p:nvPr/>
        </p:nvSpPr>
        <p:spPr>
          <a:xfrm>
            <a:off x="7863840" y="2487168"/>
            <a:ext cx="274320" cy="731520"/>
          </a:xfrm>
          <a:prstGeom prst="rightArrow">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663440"/>
            <a:ext cx="11155680" cy="1737360"/>
          </a:xfrm>
          <a:prstGeom prst="rect">
            <a:avLst/>
          </a:prstGeom>
          <a:noFill/>
        </p:spPr>
        <p:txBody>
          <a:bodyPr wrap="square">
            <a:spAutoFit/>
          </a:bodyPr>
          <a:lstStyle/>
          <a:p>
            <a:pPr algn="l"/>
            <a:r>
              <a:rPr sz="1400" b="0">
                <a:solidFill>
                  <a:srgbClr val="14213D"/>
                </a:solidFill>
                <a:latin typeface="Calibri"/>
              </a:rPr>
              <a:t>Key design decisions
• gpu_pipeline.h exposes a CUDA-free interface — the rest of the program builds with a plain C++ compiler
• Device buffers are allocated once and reused across the whole batch (resize only for a larger image)
• A CUDA-free debug build (imgproc_cpu) exercises the pipeline logic on machines without a GPU
• google-style C++ throughout; clang-format verified; no exceptions/RTTI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247120" cy="731520"/>
          </a:xfrm>
          <a:prstGeom prst="rect">
            <a:avLst/>
          </a:prstGeom>
          <a:noFill/>
        </p:spPr>
        <p:txBody>
          <a:bodyPr wrap="square">
            <a:spAutoFit/>
          </a:bodyPr>
          <a:lstStyle/>
          <a:p>
            <a:pPr algn="l"/>
            <a:r>
              <a:rPr sz="3000" b="1">
                <a:solidFill>
                  <a:srgbClr val="FFFFFF"/>
                </a:solidFill>
                <a:latin typeface="Calibri"/>
              </a:rPr>
              <a:t>The nine custom kernels</a:t>
            </a:r>
          </a:p>
        </p:txBody>
      </p:sp>
      <p:sp>
        <p:nvSpPr>
          <p:cNvPr id="4" name="TextBox 3"/>
          <p:cNvSpPr txBox="1"/>
          <p:nvPr/>
        </p:nvSpPr>
        <p:spPr>
          <a:xfrm>
            <a:off x="640080" y="1280160"/>
            <a:ext cx="5486400" cy="5120640"/>
          </a:xfrm>
          <a:prstGeom prst="rect">
            <a:avLst/>
          </a:prstGeom>
          <a:noFill/>
        </p:spPr>
        <p:txBody>
          <a:bodyPr wrap="square">
            <a:spAutoFit/>
          </a:bodyPr>
          <a:lstStyle/>
          <a:p>
            <a:pPr>
              <a:spcAft>
                <a:spcPts val="600"/>
              </a:spcAft>
            </a:pPr>
            <a:r>
              <a:rPr sz="1600" b="1">
                <a:solidFill>
                  <a:srgbClr val="14213D"/>
                </a:solidFill>
                <a:latin typeface="Calibri"/>
              </a:rPr>
              <a:t>• Point operations — one thread per pixel</a:t>
            </a:r>
          </a:p>
          <a:p>
            <a:pPr>
              <a:spcAft>
                <a:spcPts val="600"/>
              </a:spcAft>
            </a:pPr>
            <a:r>
              <a:rPr sz="1300">
                <a:solidFill>
                  <a:srgbClr val="5A5F6B"/>
                </a:solidFill>
                <a:latin typeface="Calibri"/>
              </a:rPr>
              <a:t>     grayscale (BT.601 luma), invert, brightness/contrast</a:t>
            </a:r>
          </a:p>
          <a:p>
            <a:pPr>
              <a:spcAft>
                <a:spcPts val="600"/>
              </a:spcAft>
            </a:pPr>
            <a:r>
              <a:rPr sz="1600" b="1">
                <a:solidFill>
                  <a:srgbClr val="14213D"/>
                </a:solidFill>
                <a:latin typeface="Calibri"/>
              </a:rPr>
              <a:t>• Gaussian blur — separable, shared-memory tiled</a:t>
            </a:r>
          </a:p>
          <a:p>
            <a:pPr>
              <a:spcAft>
                <a:spcPts val="600"/>
              </a:spcAft>
            </a:pPr>
            <a:r>
              <a:rPr sz="1300">
                <a:solidFill>
                  <a:srgbClr val="5A5F6B"/>
                </a:solidFill>
                <a:latin typeface="Calibri"/>
              </a:rPr>
              <a:t>     horizontal + vertical pass; float4 intermediate</a:t>
            </a:r>
          </a:p>
          <a:p>
            <a:pPr>
              <a:spcAft>
                <a:spcPts val="600"/>
              </a:spcAft>
            </a:pPr>
            <a:r>
              <a:rPr sz="1600" b="1">
                <a:solidFill>
                  <a:srgbClr val="14213D"/>
                </a:solidFill>
                <a:latin typeface="Calibri"/>
              </a:rPr>
              <a:t>• Sobel — 3×3 gradient magnitude</a:t>
            </a:r>
          </a:p>
          <a:p>
            <a:pPr>
              <a:spcAft>
                <a:spcPts val="600"/>
              </a:spcAft>
            </a:pPr>
            <a:r>
              <a:rPr sz="1300">
                <a:solidFill>
                  <a:srgbClr val="5A5F6B"/>
                </a:solidFill>
                <a:latin typeface="Calibri"/>
              </a:rPr>
              <a:t>     edge-replicated borders</a:t>
            </a:r>
          </a:p>
          <a:p>
            <a:pPr>
              <a:spcAft>
                <a:spcPts val="600"/>
              </a:spcAft>
            </a:pPr>
            <a:r>
              <a:rPr sz="1600" b="1">
                <a:solidFill>
                  <a:srgbClr val="14213D"/>
                </a:solidFill>
                <a:latin typeface="Calibri"/>
              </a:rPr>
              <a:t>• Sharpen — unsharp mask</a:t>
            </a:r>
          </a:p>
          <a:p>
            <a:pPr>
              <a:spcAft>
                <a:spcPts val="600"/>
              </a:spcAft>
            </a:pPr>
            <a:r>
              <a:rPr sz="1300">
                <a:solidFill>
                  <a:srgbClr val="5A5F6B"/>
                </a:solidFill>
                <a:latin typeface="Calibri"/>
              </a:rPr>
              <a:t>     reuses the blur kernels + a blend kernel</a:t>
            </a:r>
          </a:p>
        </p:txBody>
      </p:sp>
      <p:sp>
        <p:nvSpPr>
          <p:cNvPr id="5" name="TextBox 4"/>
          <p:cNvSpPr txBox="1"/>
          <p:nvPr/>
        </p:nvSpPr>
        <p:spPr>
          <a:xfrm>
            <a:off x="6400800" y="1280160"/>
            <a:ext cx="5212080" cy="5120640"/>
          </a:xfrm>
          <a:prstGeom prst="rect">
            <a:avLst/>
          </a:prstGeom>
          <a:noFill/>
        </p:spPr>
        <p:txBody>
          <a:bodyPr wrap="square">
            <a:spAutoFit/>
          </a:bodyPr>
          <a:lstStyle/>
          <a:p>
            <a:pPr>
              <a:spcAft>
                <a:spcPts val="600"/>
              </a:spcAft>
            </a:pPr>
            <a:r>
              <a:rPr sz="1600" b="1">
                <a:solidFill>
                  <a:srgbClr val="14213D"/>
                </a:solidFill>
                <a:latin typeface="Calibri"/>
              </a:rPr>
              <a:t>• Histogram — 256 bins</a:t>
            </a:r>
          </a:p>
          <a:p>
            <a:pPr>
              <a:spcAft>
                <a:spcPts val="600"/>
              </a:spcAft>
            </a:pPr>
            <a:r>
              <a:rPr sz="1300">
                <a:solidFill>
                  <a:srgbClr val="5A5F6B"/>
                </a:solidFill>
                <a:latin typeface="Calibri"/>
              </a:rPr>
              <a:t>     grid-stride loop with global atomicAdd</a:t>
            </a:r>
          </a:p>
          <a:p>
            <a:pPr>
              <a:spcAft>
                <a:spcPts val="600"/>
              </a:spcAft>
            </a:pPr>
            <a:r>
              <a:rPr sz="1600" b="1">
                <a:solidFill>
                  <a:srgbClr val="14213D"/>
                </a:solidFill>
                <a:latin typeface="Calibri"/>
              </a:rPr>
              <a:t>• Equalization — LUT gather</a:t>
            </a:r>
          </a:p>
          <a:p>
            <a:pPr>
              <a:spcAft>
                <a:spcPts val="600"/>
              </a:spcAft>
            </a:pPr>
            <a:r>
              <a:rPr sz="1300">
                <a:solidFill>
                  <a:srgbClr val="5A5F6B"/>
                </a:solidFill>
                <a:latin typeface="Calibri"/>
              </a:rPr>
              <a:t>     GPU histogram → host LUT → table lookup kernel</a:t>
            </a:r>
          </a:p>
          <a:p>
            <a:pPr>
              <a:spcAft>
                <a:spcPts val="600"/>
              </a:spcAft>
            </a:pPr>
            <a:r>
              <a:rPr sz="1600" b="1">
                <a:solidFill>
                  <a:srgbClr val="14213D"/>
                </a:solidFill>
                <a:latin typeface="Calibri"/>
              </a:rPr>
              <a:t>• Block size is a tunable</a:t>
            </a:r>
          </a:p>
          <a:p>
            <a:pPr>
              <a:spcAft>
                <a:spcPts val="600"/>
              </a:spcAft>
            </a:pPr>
            <a:r>
              <a:rPr sz="1300">
                <a:solidFill>
                  <a:srgbClr val="5A5F6B"/>
                </a:solidFill>
                <a:latin typeface="Calibri"/>
              </a:rPr>
              <a:t>     --tile 4..32; benchmarked with a size sweep</a:t>
            </a:r>
          </a:p>
          <a:p>
            <a:pPr>
              <a:spcAft>
                <a:spcPts val="600"/>
              </a:spcAft>
            </a:pPr>
            <a:r>
              <a:rPr sz="1600" b="1">
                <a:solidFill>
                  <a:srgbClr val="14213D"/>
                </a:solidFill>
                <a:latin typeface="Calibri"/>
              </a:rPr>
              <a:t>• All kernels handle arbitrary image sizes</a:t>
            </a:r>
          </a:p>
          <a:p>
            <a:pPr>
              <a:spcAft>
                <a:spcPts val="600"/>
              </a:spcAft>
            </a:pPr>
            <a:r>
              <a:rPr sz="1300">
                <a:solidFill>
                  <a:srgbClr val="5A5F6B"/>
                </a:solidFill>
                <a:latin typeface="Calibri"/>
              </a:rPr>
              <a:t>     bounds checks + border clamping; images smaller than one block are fine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247120" cy="731520"/>
          </a:xfrm>
          <a:prstGeom prst="rect">
            <a:avLst/>
          </a:prstGeom>
          <a:noFill/>
        </p:spPr>
        <p:txBody>
          <a:bodyPr wrap="square">
            <a:spAutoFit/>
          </a:bodyPr>
          <a:lstStyle/>
          <a:p>
            <a:pPr algn="l"/>
            <a:r>
              <a:rPr sz="3000" b="1">
                <a:solidFill>
                  <a:srgbClr val="FFFFFF"/>
                </a:solidFill>
                <a:latin typeface="Calibri"/>
              </a:rPr>
              <a:t>Deep dive: tiled shared-memory Gaussian blur</a:t>
            </a:r>
          </a:p>
        </p:txBody>
      </p:sp>
      <p:sp>
        <p:nvSpPr>
          <p:cNvPr id="4" name="TextBox 3"/>
          <p:cNvSpPr txBox="1"/>
          <p:nvPr/>
        </p:nvSpPr>
        <p:spPr>
          <a:xfrm>
            <a:off x="640080" y="1280160"/>
            <a:ext cx="6583680" cy="5120640"/>
          </a:xfrm>
          <a:prstGeom prst="rect">
            <a:avLst/>
          </a:prstGeom>
          <a:noFill/>
        </p:spPr>
        <p:txBody>
          <a:bodyPr wrap="square">
            <a:spAutoFit/>
          </a:bodyPr>
          <a:lstStyle/>
          <a:p>
            <a:pPr>
              <a:spcAft>
                <a:spcPts val="600"/>
              </a:spcAft>
            </a:pPr>
            <a:r>
              <a:rPr sz="1600" b="1">
                <a:solidFill>
                  <a:srgbClr val="14213D"/>
                </a:solidFill>
                <a:latin typeface="Calibri"/>
              </a:rPr>
              <a:t>• Separable filter → two 1-D passes</a:t>
            </a:r>
          </a:p>
          <a:p>
            <a:pPr>
              <a:spcAft>
                <a:spcPts val="600"/>
              </a:spcAft>
            </a:pPr>
            <a:r>
              <a:rPr sz="1300">
                <a:solidFill>
                  <a:srgbClr val="5A5F6B"/>
                </a:solidFill>
                <a:latin typeface="Calibri"/>
              </a:rPr>
              <a:t>     horizontal pass into a float4 scratch buffer, then vertical pass back to bytes</a:t>
            </a:r>
          </a:p>
          <a:p>
            <a:pPr>
              <a:spcAft>
                <a:spcPts val="600"/>
              </a:spcAft>
            </a:pPr>
            <a:r>
              <a:rPr sz="1600" b="1">
                <a:solidFill>
                  <a:srgbClr val="14213D"/>
                </a:solidFill>
                <a:latin typeface="Calibri"/>
              </a:rPr>
              <a:t>• Each block stages a tile + halo in shared memory</a:t>
            </a:r>
          </a:p>
          <a:p>
            <a:pPr>
              <a:spcAft>
                <a:spcPts val="600"/>
              </a:spcAft>
            </a:pPr>
            <a:r>
              <a:rPr sz="1300">
                <a:solidFill>
                  <a:srgbClr val="5A5F6B"/>
                </a:solidFill>
                <a:latin typeface="Calibri"/>
              </a:rPr>
              <a:t>     every input byte is read from global memory exactly once per pass</a:t>
            </a:r>
          </a:p>
          <a:p>
            <a:pPr>
              <a:spcAft>
                <a:spcPts val="600"/>
              </a:spcAft>
            </a:pPr>
            <a:r>
              <a:rPr sz="1600" b="1">
                <a:solidFill>
                  <a:srgbClr val="14213D"/>
                </a:solidFill>
                <a:latin typeface="Calibri"/>
              </a:rPr>
              <a:t>• Radius capped at 15</a:t>
            </a:r>
          </a:p>
          <a:p>
            <a:pPr>
              <a:spcAft>
                <a:spcPts val="600"/>
              </a:spcAft>
            </a:pPr>
            <a:r>
              <a:rPr sz="1300">
                <a:solidFill>
                  <a:srgbClr val="5A5F6B"/>
                </a:solidFill>
                <a:latin typeface="Calibri"/>
              </a:rPr>
              <a:t>     shared memory stays under the 48 KiB per-block default for block sizes up to 32×32</a:t>
            </a:r>
          </a:p>
          <a:p>
            <a:pPr>
              <a:spcAft>
                <a:spcPts val="600"/>
              </a:spcAft>
            </a:pPr>
            <a:r>
              <a:rPr sz="1600" b="1">
                <a:solidFill>
                  <a:srgbClr val="14213D"/>
                </a:solidFill>
                <a:latin typeface="Calibri"/>
              </a:rPr>
              <a:t>• float4 intermediate avoids rounding loss</a:t>
            </a:r>
          </a:p>
          <a:p>
            <a:pPr>
              <a:spcAft>
                <a:spcPts val="600"/>
              </a:spcAft>
            </a:pPr>
            <a:r>
              <a:rPr sz="1300">
                <a:solidFill>
                  <a:srgbClr val="5A5F6B"/>
                </a:solidFill>
                <a:latin typeface="Calibri"/>
              </a:rPr>
              <a:t>     bytes are converted once, not twice</a:t>
            </a:r>
          </a:p>
          <a:p>
            <a:pPr>
              <a:spcAft>
                <a:spcPts val="600"/>
              </a:spcAft>
            </a:pPr>
            <a:r>
              <a:rPr sz="1600" b="1">
                <a:solidFill>
                  <a:srgbClr val="14213D"/>
                </a:solidFill>
                <a:latin typeface="Calibri"/>
              </a:rPr>
              <a:t>• Tile size is benchmarked, not guessed</a:t>
            </a:r>
          </a:p>
          <a:p>
            <a:pPr>
              <a:spcAft>
                <a:spcPts val="600"/>
              </a:spcAft>
            </a:pPr>
            <a:r>
              <a:rPr sz="1300">
                <a:solidFill>
                  <a:srgbClr val="5A5F6B"/>
                </a:solidFill>
                <a:latin typeface="Calibri"/>
              </a:rPr>
              <a:t>     --bench sweeps 8×16×32 and writes the timings to benchmark.csv</a:t>
            </a:r>
          </a:p>
        </p:txBody>
      </p:sp>
      <p:pic>
        <p:nvPicPr>
          <p:cNvPr id="5" name="Picture 4" descr="img_0002_checker_384x384.png"/>
          <p:cNvPicPr>
            <a:picLocks noChangeAspect="1"/>
          </p:cNvPicPr>
          <p:nvPr/>
        </p:nvPicPr>
        <p:blipFill>
          <a:blip r:embed="rId2"/>
          <a:stretch>
            <a:fillRect/>
          </a:stretch>
        </p:blipFill>
        <p:spPr>
          <a:xfrm>
            <a:off x="7635240" y="1554480"/>
            <a:ext cx="2103120" cy="2103120"/>
          </a:xfrm>
          <a:prstGeom prst="rect">
            <a:avLst/>
          </a:prstGeom>
        </p:spPr>
      </p:pic>
      <p:sp>
        <p:nvSpPr>
          <p:cNvPr id="6" name="TextBox 5"/>
          <p:cNvSpPr txBox="1"/>
          <p:nvPr/>
        </p:nvSpPr>
        <p:spPr>
          <a:xfrm>
            <a:off x="7635240" y="3703320"/>
            <a:ext cx="2103120" cy="292608"/>
          </a:xfrm>
          <a:prstGeom prst="rect">
            <a:avLst/>
          </a:prstGeom>
          <a:noFill/>
        </p:spPr>
        <p:txBody>
          <a:bodyPr wrap="square">
            <a:spAutoFit/>
          </a:bodyPr>
          <a:lstStyle/>
          <a:p>
            <a:pPr algn="ctr"/>
            <a:r>
              <a:rPr sz="1200" b="0">
                <a:solidFill>
                  <a:srgbClr val="5A5F6B"/>
                </a:solidFill>
                <a:latin typeface="Calibri"/>
              </a:rPr>
              <a:t>input (checkerboard)</a:t>
            </a:r>
          </a:p>
        </p:txBody>
      </p:sp>
      <p:pic>
        <p:nvPicPr>
          <p:cNvPr id="7" name="Picture 6" descr="img_0002_checker_384x384_blur.png"/>
          <p:cNvPicPr>
            <a:picLocks noChangeAspect="1"/>
          </p:cNvPicPr>
          <p:nvPr/>
        </p:nvPicPr>
        <p:blipFill>
          <a:blip r:embed="rId3"/>
          <a:stretch>
            <a:fillRect/>
          </a:stretch>
        </p:blipFill>
        <p:spPr>
          <a:xfrm>
            <a:off x="9875520" y="1554480"/>
            <a:ext cx="2103120" cy="2103120"/>
          </a:xfrm>
          <a:prstGeom prst="rect">
            <a:avLst/>
          </a:prstGeom>
        </p:spPr>
      </p:pic>
      <p:sp>
        <p:nvSpPr>
          <p:cNvPr id="8" name="TextBox 7"/>
          <p:cNvSpPr txBox="1"/>
          <p:nvPr/>
        </p:nvSpPr>
        <p:spPr>
          <a:xfrm>
            <a:off x="9875520" y="3703320"/>
            <a:ext cx="2103120" cy="292608"/>
          </a:xfrm>
          <a:prstGeom prst="rect">
            <a:avLst/>
          </a:prstGeom>
          <a:noFill/>
        </p:spPr>
        <p:txBody>
          <a:bodyPr wrap="square">
            <a:spAutoFit/>
          </a:bodyPr>
          <a:lstStyle/>
          <a:p>
            <a:pPr algn="ctr"/>
            <a:r>
              <a:rPr sz="1200" b="0">
                <a:solidFill>
                  <a:srgbClr val="5A5F6B"/>
                </a:solidFill>
                <a:latin typeface="Calibri"/>
              </a:rPr>
              <a:t>gaussian blur output</a:t>
            </a:r>
          </a:p>
        </p:txBody>
      </p:sp>
      <p:sp>
        <p:nvSpPr>
          <p:cNvPr id="9" name="TextBox 8"/>
          <p:cNvSpPr txBox="1"/>
          <p:nvPr/>
        </p:nvSpPr>
        <p:spPr>
          <a:xfrm>
            <a:off x="7635240" y="4206240"/>
            <a:ext cx="4343400" cy="2011680"/>
          </a:xfrm>
          <a:prstGeom prst="rect">
            <a:avLst/>
          </a:prstGeom>
          <a:noFill/>
        </p:spPr>
        <p:txBody>
          <a:bodyPr wrap="square">
            <a:spAutoFit/>
          </a:bodyPr>
          <a:lstStyle/>
          <a:p>
            <a:pPr algn="l"/>
            <a:r>
              <a:rPr sz="1300" b="0">
                <a:solidFill>
                  <a:srgbClr val="5A5F6B"/>
                </a:solidFill>
                <a:latin typeface="Calibri"/>
              </a:rPr>
              <a:t>H pass tile: (block + 2·radius) × block
V pass tile: block × (block + 2·radius)
halo pixels are clamped at image borders
cooperative load loop fills the tile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247120" cy="731520"/>
          </a:xfrm>
          <a:prstGeom prst="rect">
            <a:avLst/>
          </a:prstGeom>
          <a:noFill/>
        </p:spPr>
        <p:txBody>
          <a:bodyPr wrap="square">
            <a:spAutoFit/>
          </a:bodyPr>
          <a:lstStyle/>
          <a:p>
            <a:pPr algn="l"/>
            <a:r>
              <a:rPr sz="3000" b="1">
                <a:solidFill>
                  <a:srgbClr val="FFFFFF"/>
                </a:solidFill>
                <a:latin typeface="Calibri"/>
              </a:rPr>
              <a:t>Deep dive: histogram equalization (new for the capstone)</a:t>
            </a:r>
          </a:p>
        </p:txBody>
      </p:sp>
      <p:sp>
        <p:nvSpPr>
          <p:cNvPr id="4" name="Rounded Rectangle 3"/>
          <p:cNvSpPr/>
          <p:nvPr/>
        </p:nvSpPr>
        <p:spPr>
          <a:xfrm>
            <a:off x="502920" y="1325880"/>
            <a:ext cx="2331720" cy="822960"/>
          </a:xfrm>
          <a:prstGeom prst="roundRect">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14213D"/>
                </a:solidFill>
                <a:latin typeface="Calibri"/>
              </a:rPr>
              <a:t>GPU histogram kernel (atomicAdd, 256 bins)</a:t>
            </a:r>
          </a:p>
        </p:txBody>
      </p:sp>
      <p:sp>
        <p:nvSpPr>
          <p:cNvPr id="5" name="Right Arrow 4"/>
          <p:cNvSpPr/>
          <p:nvPr/>
        </p:nvSpPr>
        <p:spPr>
          <a:xfrm>
            <a:off x="2862071" y="1600200"/>
            <a:ext cx="292608" cy="256032"/>
          </a:xfrm>
          <a:prstGeom prst="rightArrow">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182111" y="1325880"/>
            <a:ext cx="1783080" cy="822960"/>
          </a:xfrm>
          <a:prstGeom prst="roundRect">
            <a:avLst/>
          </a:prstGeom>
          <a:solidFill>
            <a:srgbClr val="2B3A67"/>
          </a:solidFill>
          <a:ln>
            <a:solidFill>
              <a:srgbClr val="2B3A67"/>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latin typeface="Calibri"/>
              </a:rPr>
              <a:t>Download 256 bins to host</a:t>
            </a:r>
          </a:p>
        </p:txBody>
      </p:sp>
      <p:sp>
        <p:nvSpPr>
          <p:cNvPr id="7" name="Right Arrow 6"/>
          <p:cNvSpPr/>
          <p:nvPr/>
        </p:nvSpPr>
        <p:spPr>
          <a:xfrm>
            <a:off x="4992624" y="1600200"/>
            <a:ext cx="292608" cy="256032"/>
          </a:xfrm>
          <a:prstGeom prst="rightArrow">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12664" y="1325880"/>
            <a:ext cx="2423160" cy="822960"/>
          </a:xfrm>
          <a:prstGeom prst="roundRect">
            <a:avLst/>
          </a:prstGeom>
          <a:solidFill>
            <a:srgbClr val="2B3A67"/>
          </a:solidFill>
          <a:ln>
            <a:solidFill>
              <a:srgbClr val="2B3A67"/>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latin typeface="Calibri"/>
              </a:rPr>
              <a:t>Host builds CDF → 256-entry LUT (shared code)</a:t>
            </a:r>
          </a:p>
        </p:txBody>
      </p:sp>
      <p:sp>
        <p:nvSpPr>
          <p:cNvPr id="9" name="Right Arrow 8"/>
          <p:cNvSpPr/>
          <p:nvPr/>
        </p:nvSpPr>
        <p:spPr>
          <a:xfrm>
            <a:off x="7763255" y="1600200"/>
            <a:ext cx="292608" cy="256032"/>
          </a:xfrm>
          <a:prstGeom prst="rightArrow">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83296" y="1325880"/>
            <a:ext cx="1234440" cy="822960"/>
          </a:xfrm>
          <a:prstGeom prst="roundRect">
            <a:avLst/>
          </a:prstGeom>
          <a:solidFill>
            <a:srgbClr val="2B3A67"/>
          </a:solidFill>
          <a:ln>
            <a:solidFill>
              <a:srgbClr val="2B3A67"/>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latin typeface="Calibri"/>
              </a:rPr>
              <a:t>Upload LUT</a:t>
            </a:r>
          </a:p>
        </p:txBody>
      </p:sp>
      <p:sp>
        <p:nvSpPr>
          <p:cNvPr id="11" name="Right Arrow 10"/>
          <p:cNvSpPr/>
          <p:nvPr/>
        </p:nvSpPr>
        <p:spPr>
          <a:xfrm>
            <a:off x="9345167" y="1600200"/>
            <a:ext cx="292608" cy="256032"/>
          </a:xfrm>
          <a:prstGeom prst="rightArrow">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65208" y="1325880"/>
            <a:ext cx="2194560" cy="822960"/>
          </a:xfrm>
          <a:prstGeom prst="roundRect">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14213D"/>
                </a:solidFill>
                <a:latin typeface="Calibri"/>
              </a:rPr>
              <a:t>LUT-gather kernel on the grayscale image</a:t>
            </a:r>
          </a:p>
        </p:txBody>
      </p:sp>
      <p:pic>
        <p:nvPicPr>
          <p:cNvPr id="13" name="Picture 12" descr="img_0004_plasma_256x256.png"/>
          <p:cNvPicPr>
            <a:picLocks noChangeAspect="1"/>
          </p:cNvPicPr>
          <p:nvPr/>
        </p:nvPicPr>
        <p:blipFill>
          <a:blip r:embed="rId2"/>
          <a:stretch>
            <a:fillRect/>
          </a:stretch>
        </p:blipFill>
        <p:spPr>
          <a:xfrm>
            <a:off x="1463040" y="2651760"/>
            <a:ext cx="3108960" cy="3108960"/>
          </a:xfrm>
          <a:prstGeom prst="rect">
            <a:avLst/>
          </a:prstGeom>
        </p:spPr>
      </p:pic>
      <p:sp>
        <p:nvSpPr>
          <p:cNvPr id="14" name="TextBox 13"/>
          <p:cNvSpPr txBox="1"/>
          <p:nvPr/>
        </p:nvSpPr>
        <p:spPr>
          <a:xfrm>
            <a:off x="1463040" y="5806440"/>
            <a:ext cx="3108960" cy="292608"/>
          </a:xfrm>
          <a:prstGeom prst="rect">
            <a:avLst/>
          </a:prstGeom>
          <a:noFill/>
        </p:spPr>
        <p:txBody>
          <a:bodyPr wrap="square">
            <a:spAutoFit/>
          </a:bodyPr>
          <a:lstStyle/>
          <a:p>
            <a:pPr algn="ctr"/>
            <a:r>
              <a:rPr sz="1200" b="0">
                <a:solidFill>
                  <a:srgbClr val="5A5F6B"/>
                </a:solidFill>
                <a:latin typeface="Calibri"/>
              </a:rPr>
              <a:t>before — low-contrast plasma pattern</a:t>
            </a:r>
          </a:p>
        </p:txBody>
      </p:sp>
      <p:pic>
        <p:nvPicPr>
          <p:cNvPr id="15" name="Picture 14" descr="img_0004_plasma_256x256_equalize.png"/>
          <p:cNvPicPr>
            <a:picLocks noChangeAspect="1"/>
          </p:cNvPicPr>
          <p:nvPr/>
        </p:nvPicPr>
        <p:blipFill>
          <a:blip r:embed="rId3"/>
          <a:stretch>
            <a:fillRect/>
          </a:stretch>
        </p:blipFill>
        <p:spPr>
          <a:xfrm>
            <a:off x="4846320" y="2651760"/>
            <a:ext cx="3108960" cy="3108960"/>
          </a:xfrm>
          <a:prstGeom prst="rect">
            <a:avLst/>
          </a:prstGeom>
        </p:spPr>
      </p:pic>
      <p:sp>
        <p:nvSpPr>
          <p:cNvPr id="16" name="TextBox 15"/>
          <p:cNvSpPr txBox="1"/>
          <p:nvPr/>
        </p:nvSpPr>
        <p:spPr>
          <a:xfrm>
            <a:off x="4846320" y="5806440"/>
            <a:ext cx="3108960" cy="292608"/>
          </a:xfrm>
          <a:prstGeom prst="rect">
            <a:avLst/>
          </a:prstGeom>
          <a:noFill/>
        </p:spPr>
        <p:txBody>
          <a:bodyPr wrap="square">
            <a:spAutoFit/>
          </a:bodyPr>
          <a:lstStyle/>
          <a:p>
            <a:pPr algn="ctr"/>
            <a:r>
              <a:rPr sz="1200" b="0">
                <a:solidFill>
                  <a:srgbClr val="5A5F6B"/>
                </a:solidFill>
                <a:latin typeface="Calibri"/>
              </a:rPr>
              <a:t>after — histogram-equalized</a:t>
            </a:r>
          </a:p>
        </p:txBody>
      </p:sp>
      <p:sp>
        <p:nvSpPr>
          <p:cNvPr id="17" name="TextBox 16"/>
          <p:cNvSpPr txBox="1"/>
          <p:nvPr/>
        </p:nvSpPr>
        <p:spPr>
          <a:xfrm>
            <a:off x="8321040" y="2743200"/>
            <a:ext cx="3474720" cy="2926080"/>
          </a:xfrm>
          <a:prstGeom prst="rect">
            <a:avLst/>
          </a:prstGeom>
          <a:noFill/>
        </p:spPr>
        <p:txBody>
          <a:bodyPr wrap="square">
            <a:spAutoFit/>
          </a:bodyPr>
          <a:lstStyle/>
          <a:p>
            <a:pPr algn="l"/>
            <a:r>
              <a:rPr sz="1400" b="0">
                <a:solidFill>
                  <a:srgbClr val="14213D"/>
                </a:solidFill>
                <a:latin typeface="Calibri"/>
              </a:rPr>
              <a:t>Contrast stretch: pixel-value std 16.5 → 73.6
The LUT is built by the exact same host function as the CPU reference, so the GPU result is bit-exact
Verified against an independent NumPy implementation: max diff = 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247120" cy="731520"/>
          </a:xfrm>
          <a:prstGeom prst="rect">
            <a:avLst/>
          </a:prstGeom>
          <a:noFill/>
        </p:spPr>
        <p:txBody>
          <a:bodyPr wrap="square">
            <a:spAutoFit/>
          </a:bodyPr>
          <a:lstStyle/>
          <a:p>
            <a:pPr algn="l"/>
            <a:r>
              <a:rPr sz="3000" b="1">
                <a:solidFill>
                  <a:srgbClr val="FFFFFF"/>
                </a:solidFill>
                <a:latin typeface="Calibri"/>
              </a:rPr>
              <a:t>Verification: three levels of correctness checking</a:t>
            </a:r>
          </a:p>
        </p:txBody>
      </p:sp>
      <p:sp>
        <p:nvSpPr>
          <p:cNvPr id="4" name="TextBox 3"/>
          <p:cNvSpPr txBox="1"/>
          <p:nvPr/>
        </p:nvSpPr>
        <p:spPr>
          <a:xfrm>
            <a:off x="640080" y="1371600"/>
            <a:ext cx="10972800" cy="4937760"/>
          </a:xfrm>
          <a:prstGeom prst="rect">
            <a:avLst/>
          </a:prstGeom>
          <a:noFill/>
        </p:spPr>
        <p:txBody>
          <a:bodyPr wrap="square">
            <a:spAutoFit/>
          </a:bodyPr>
          <a:lstStyle/>
          <a:p>
            <a:pPr>
              <a:spcAft>
                <a:spcPts val="600"/>
              </a:spcAft>
            </a:pPr>
            <a:r>
              <a:rPr sz="1700" b="1">
                <a:solidFill>
                  <a:srgbClr val="14213D"/>
                </a:solidFill>
                <a:latin typeface="Calibri"/>
              </a:rPr>
              <a:t>• Level 1 — --verify on every run</a:t>
            </a:r>
          </a:p>
          <a:p>
            <a:pPr>
              <a:spcAft>
                <a:spcPts val="600"/>
              </a:spcAft>
            </a:pPr>
            <a:r>
              <a:rPr sz="1400">
                <a:solidFill>
                  <a:srgbClr val="5A5F6B"/>
                </a:solidFill>
                <a:latin typeface="Calibri"/>
              </a:rPr>
              <a:t>     each operation is recomputed with the CPU reference; the log reports max |GPU − CPU| per operation; tolerances 1–3 of 255 allow only FMA-contraction differences</a:t>
            </a:r>
          </a:p>
          <a:p>
            <a:pPr>
              <a:spcAft>
                <a:spcPts val="600"/>
              </a:spcAft>
            </a:pPr>
            <a:r>
              <a:rPr sz="1700" b="1">
                <a:solidFill>
                  <a:srgbClr val="14213D"/>
                </a:solidFill>
                <a:latin typeface="Calibri"/>
              </a:rPr>
              <a:t>• Level 2 — independent implementation</a:t>
            </a:r>
          </a:p>
          <a:p>
            <a:pPr>
              <a:spcAft>
                <a:spcPts val="600"/>
              </a:spcAft>
            </a:pPr>
            <a:r>
              <a:rPr sz="1400">
                <a:solidFill>
                  <a:srgbClr val="5A5F6B"/>
                </a:solidFill>
                <a:latin typeface="Calibri"/>
              </a:rPr>
              <a:t>     the CPU reference itself was validated against NumPy: blur within ±1 LSB, Sobel bit-exact, equalization bit-exact</a:t>
            </a:r>
          </a:p>
          <a:p>
            <a:pPr>
              <a:spcAft>
                <a:spcPts val="600"/>
              </a:spcAft>
            </a:pPr>
            <a:r>
              <a:rPr sz="1700" b="1">
                <a:solidFill>
                  <a:srgbClr val="14213D"/>
                </a:solidFill>
                <a:latin typeface="Calibri"/>
              </a:rPr>
              <a:t>• Level 3 — make test-kernels</a:t>
            </a:r>
          </a:p>
          <a:p>
            <a:pPr>
              <a:spcAft>
                <a:spcPts val="600"/>
              </a:spcAft>
            </a:pPr>
            <a:r>
              <a:rPr sz="1400">
                <a:solidFill>
                  <a:srgbClr val="5A5F6B"/>
                </a:solidFill>
                <a:latin typeface="Calibri"/>
              </a:rPr>
              <a:t>     the kernels' exact thread mapping, tile layout and halo handling are transcribed into host loops; all 8 dimension/sigma/tile configurations match bit-exactly</a:t>
            </a:r>
          </a:p>
          <a:p>
            <a:pPr>
              <a:spcAft>
                <a:spcPts val="600"/>
              </a:spcAft>
            </a:pPr>
            <a:r>
              <a:rPr sz="1700" b="1">
                <a:solidFill>
                  <a:srgbClr val="14213D"/>
                </a:solidFill>
                <a:latin typeface="Calibri"/>
              </a:rPr>
              <a:t>• Matching rounding semantics was the hard part</a:t>
            </a:r>
          </a:p>
          <a:p>
            <a:pPr>
              <a:spcAft>
                <a:spcPts val="600"/>
              </a:spcAft>
            </a:pPr>
            <a:r>
              <a:rPr sz="1400">
                <a:solidFill>
                  <a:srgbClr val="5A5F6B"/>
                </a:solidFill>
                <a:latin typeface="Calibri"/>
              </a:rPr>
              <a:t>     __float2int_rn on the device rounds ties-to-even — the host reference uses lrintf, which follows the same default rounding mode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247120" cy="731520"/>
          </a:xfrm>
          <a:prstGeom prst="rect">
            <a:avLst/>
          </a:prstGeom>
          <a:noFill/>
        </p:spPr>
        <p:txBody>
          <a:bodyPr wrap="square">
            <a:spAutoFit/>
          </a:bodyPr>
          <a:lstStyle/>
          <a:p>
            <a:pPr algn="l"/>
            <a:r>
              <a:rPr sz="3000" b="1">
                <a:solidFill>
                  <a:srgbClr val="FFFFFF"/>
                </a:solidFill>
                <a:latin typeface="Calibri"/>
              </a:rPr>
              <a:t>Benchmarking: --bench and the tile sweep</a:t>
            </a:r>
          </a:p>
        </p:txBody>
      </p:sp>
      <p:sp>
        <p:nvSpPr>
          <p:cNvPr id="4" name="TextBox 3"/>
          <p:cNvSpPr txBox="1"/>
          <p:nvPr/>
        </p:nvSpPr>
        <p:spPr>
          <a:xfrm>
            <a:off x="640080" y="1280160"/>
            <a:ext cx="6035040" cy="2377440"/>
          </a:xfrm>
          <a:prstGeom prst="rect">
            <a:avLst/>
          </a:prstGeom>
          <a:noFill/>
        </p:spPr>
        <p:txBody>
          <a:bodyPr wrap="square">
            <a:spAutoFit/>
          </a:bodyPr>
          <a:lstStyle/>
          <a:p>
            <a:pPr>
              <a:spcAft>
                <a:spcPts val="600"/>
              </a:spcAft>
            </a:pPr>
            <a:r>
              <a:rPr sz="1600">
                <a:solidFill>
                  <a:srgbClr val="14213D"/>
                </a:solidFill>
                <a:latin typeface="Calibri"/>
              </a:rPr>
              <a:t>• --bench writes benchmark.csv: one row per image × operation with gpu_ms and cpu_ms</a:t>
            </a:r>
          </a:p>
          <a:p>
            <a:pPr>
              <a:spcAft>
                <a:spcPts val="600"/>
              </a:spcAft>
            </a:pPr>
            <a:r>
              <a:rPr sz="1600">
                <a:solidFill>
                  <a:srgbClr val="14213D"/>
                </a:solidFill>
                <a:latin typeface="Calibri"/>
              </a:rPr>
              <a:t>• GPU mode also sweeps blur tile sizes 8 / 16 / 32 and logs the averages</a:t>
            </a:r>
          </a:p>
          <a:p>
            <a:pPr>
              <a:spcAft>
                <a:spcPts val="600"/>
              </a:spcAft>
            </a:pPr>
            <a:r>
              <a:rPr sz="1600">
                <a:solidFill>
                  <a:srgbClr val="14213D"/>
                </a:solidFill>
                <a:latin typeface="Calibri"/>
              </a:rPr>
              <a:t>• CSV + logs are committed under results/ as proof artifacts</a:t>
            </a:r>
          </a:p>
        </p:txBody>
      </p:sp>
      <p:graphicFrame>
        <p:nvGraphicFramePr>
          <p:cNvPr id="5" name="Table 4"/>
          <p:cNvGraphicFramePr>
            <a:graphicFrameLocks noGrp="1"/>
          </p:cNvGraphicFramePr>
          <p:nvPr/>
        </p:nvGraphicFramePr>
        <p:xfrm>
          <a:off x="822960" y="3794760"/>
          <a:ext cx="5669280" cy="2377440"/>
        </p:xfrm>
        <a:graphic>
          <a:graphicData uri="http://schemas.openxmlformats.org/drawingml/2006/table">
            <a:tbl>
              <a:tblPr firstRow="1" bandRow="1">
                <a:tableStyleId>{5C22544A-7EE6-4342-B048-85BDC9FD1C3A}</a:tableStyleId>
              </a:tblPr>
              <a:tblGrid>
                <a:gridCol w="2011680"/>
                <a:gridCol w="2011680"/>
                <a:gridCol w="1645920"/>
              </a:tblGrid>
              <a:tr h="396240">
                <a:tc>
                  <a:txBody>
                    <a:bodyPr/>
                    <a:lstStyle/>
                    <a:p>
                      <a:r>
                        <a:rPr sz="1300" b="1">
                          <a:solidFill>
                            <a:srgbClr val="FCA311"/>
                          </a:solidFill>
                        </a:rPr>
                        <a:t>operation</a:t>
                      </a:r>
                    </a:p>
                  </a:txBody>
                  <a:tcPr/>
                </a:tc>
                <a:tc>
                  <a:txBody>
                    <a:bodyPr/>
                    <a:lstStyle/>
                    <a:p>
                      <a:r>
                        <a:rPr sz="1300" b="1">
                          <a:solidFill>
                            <a:srgbClr val="FCA311"/>
                          </a:solidFill>
                        </a:rPr>
                        <a:t>CPU ref (ms/img)</a:t>
                      </a:r>
                    </a:p>
                  </a:txBody>
                  <a:tcPr/>
                </a:tc>
                <a:tc>
                  <a:txBody>
                    <a:bodyPr/>
                    <a:lstStyle/>
                    <a:p>
                      <a:r>
                        <a:rPr sz="1300" b="1">
                          <a:solidFill>
                            <a:srgbClr val="FCA311"/>
                          </a:solidFill>
                        </a:rPr>
                        <a:t>GPU (ms/img)</a:t>
                      </a:r>
                    </a:p>
                  </a:txBody>
                  <a:tcPr/>
                </a:tc>
              </a:tr>
              <a:tr h="396240">
                <a:tc>
                  <a:txBody>
                    <a:bodyPr/>
                    <a:lstStyle/>
                    <a:p>
                      <a:r>
                        <a:rPr sz="1300" b="0">
                          <a:solidFill>
                            <a:srgbClr val="14213D"/>
                          </a:solidFill>
                        </a:rPr>
                        <a:t>gray</a:t>
                      </a:r>
                    </a:p>
                  </a:txBody>
                  <a:tcPr/>
                </a:tc>
                <a:tc>
                  <a:txBody>
                    <a:bodyPr/>
                    <a:lstStyle/>
                    <a:p>
                      <a:r>
                        <a:rPr sz="1300" b="0">
                          <a:solidFill>
                            <a:srgbClr val="14213D"/>
                          </a:solidFill>
                        </a:rPr>
                        <a:t>0.29</a:t>
                      </a:r>
                    </a:p>
                  </a:txBody>
                  <a:tcPr/>
                </a:tc>
                <a:tc>
                  <a:txBody>
                    <a:bodyPr/>
                    <a:lstStyle/>
                    <a:p>
                      <a:r>
                        <a:rPr sz="1300" b="0">
                          <a:solidFill>
                            <a:srgbClr val="14213D"/>
                          </a:solidFill>
                        </a:rPr>
                        <a:t>[fill from lab]</a:t>
                      </a:r>
                    </a:p>
                  </a:txBody>
                  <a:tcPr/>
                </a:tc>
              </a:tr>
              <a:tr h="396240">
                <a:tc>
                  <a:txBody>
                    <a:bodyPr/>
                    <a:lstStyle/>
                    <a:p>
                      <a:r>
                        <a:rPr sz="1300" b="0">
                          <a:solidFill>
                            <a:srgbClr val="14213D"/>
                          </a:solidFill>
                        </a:rPr>
                        <a:t>blur</a:t>
                      </a:r>
                    </a:p>
                  </a:txBody>
                  <a:tcPr/>
                </a:tc>
                <a:tc>
                  <a:txBody>
                    <a:bodyPr/>
                    <a:lstStyle/>
                    <a:p>
                      <a:r>
                        <a:rPr sz="1300" b="0">
                          <a:solidFill>
                            <a:srgbClr val="14213D"/>
                          </a:solidFill>
                        </a:rPr>
                        <a:t>6.81</a:t>
                      </a:r>
                    </a:p>
                  </a:txBody>
                  <a:tcPr/>
                </a:tc>
                <a:tc>
                  <a:txBody>
                    <a:bodyPr/>
                    <a:lstStyle/>
                    <a:p>
                      <a:r>
                        <a:rPr sz="1300" b="0">
                          <a:solidFill>
                            <a:srgbClr val="14213D"/>
                          </a:solidFill>
                        </a:rPr>
                        <a:t>[fill from lab]</a:t>
                      </a:r>
                    </a:p>
                  </a:txBody>
                  <a:tcPr/>
                </a:tc>
              </a:tr>
              <a:tr h="396240">
                <a:tc>
                  <a:txBody>
                    <a:bodyPr/>
                    <a:lstStyle/>
                    <a:p>
                      <a:r>
                        <a:rPr sz="1300" b="0">
                          <a:solidFill>
                            <a:srgbClr val="14213D"/>
                          </a:solidFill>
                        </a:rPr>
                        <a:t>sobel</a:t>
                      </a:r>
                    </a:p>
                  </a:txBody>
                  <a:tcPr/>
                </a:tc>
                <a:tc>
                  <a:txBody>
                    <a:bodyPr/>
                    <a:lstStyle/>
                    <a:p>
                      <a:r>
                        <a:rPr sz="1300" b="0">
                          <a:solidFill>
                            <a:srgbClr val="14213D"/>
                          </a:solidFill>
                        </a:rPr>
                        <a:t>1.19</a:t>
                      </a:r>
                    </a:p>
                  </a:txBody>
                  <a:tcPr/>
                </a:tc>
                <a:tc>
                  <a:txBody>
                    <a:bodyPr/>
                    <a:lstStyle/>
                    <a:p>
                      <a:r>
                        <a:rPr sz="1300" b="0">
                          <a:solidFill>
                            <a:srgbClr val="14213D"/>
                          </a:solidFill>
                        </a:rPr>
                        <a:t>[fill from lab]</a:t>
                      </a:r>
                    </a:p>
                  </a:txBody>
                  <a:tcPr/>
                </a:tc>
              </a:tr>
              <a:tr h="396240">
                <a:tc>
                  <a:txBody>
                    <a:bodyPr/>
                    <a:lstStyle/>
                    <a:p>
                      <a:r>
                        <a:rPr sz="1300" b="0">
                          <a:solidFill>
                            <a:srgbClr val="14213D"/>
                          </a:solidFill>
                        </a:rPr>
                        <a:t>sharpen</a:t>
                      </a:r>
                    </a:p>
                  </a:txBody>
                  <a:tcPr/>
                </a:tc>
                <a:tc>
                  <a:txBody>
                    <a:bodyPr/>
                    <a:lstStyle/>
                    <a:p>
                      <a:r>
                        <a:rPr sz="1300" b="0">
                          <a:solidFill>
                            <a:srgbClr val="14213D"/>
                          </a:solidFill>
                        </a:rPr>
                        <a:t>7.89</a:t>
                      </a:r>
                    </a:p>
                  </a:txBody>
                  <a:tcPr/>
                </a:tc>
                <a:tc>
                  <a:txBody>
                    <a:bodyPr/>
                    <a:lstStyle/>
                    <a:p>
                      <a:r>
                        <a:rPr sz="1300" b="0">
                          <a:solidFill>
                            <a:srgbClr val="14213D"/>
                          </a:solidFill>
                        </a:rPr>
                        <a:t>[fill from lab]</a:t>
                      </a:r>
                    </a:p>
                  </a:txBody>
                  <a:tcPr/>
                </a:tc>
              </a:tr>
              <a:tr h="396240">
                <a:tc>
                  <a:txBody>
                    <a:bodyPr/>
                    <a:lstStyle/>
                    <a:p>
                      <a:r>
                        <a:rPr sz="1300" b="0">
                          <a:solidFill>
                            <a:srgbClr val="14213D"/>
                          </a:solidFill>
                        </a:rPr>
                        <a:t>equalize</a:t>
                      </a:r>
                    </a:p>
                  </a:txBody>
                  <a:tcPr/>
                </a:tc>
                <a:tc>
                  <a:txBody>
                    <a:bodyPr/>
                    <a:lstStyle/>
                    <a:p>
                      <a:r>
                        <a:rPr sz="1300" b="0">
                          <a:solidFill>
                            <a:srgbClr val="14213D"/>
                          </a:solidFill>
                        </a:rPr>
                        <a:t>0.62</a:t>
                      </a:r>
                    </a:p>
                  </a:txBody>
                  <a:tcPr/>
                </a:tc>
                <a:tc>
                  <a:txBody>
                    <a:bodyPr/>
                    <a:lstStyle/>
                    <a:p>
                      <a:r>
                        <a:rPr sz="1300" b="0">
                          <a:solidFill>
                            <a:srgbClr val="14213D"/>
                          </a:solidFill>
                        </a:rPr>
                        <a:t>[fill from lab]</a:t>
                      </a:r>
                    </a:p>
                  </a:txBody>
                  <a:tcPr/>
                </a:tc>
              </a:tr>
            </a:tbl>
          </a:graphicData>
        </a:graphic>
      </p:graphicFrame>
      <p:sp>
        <p:nvSpPr>
          <p:cNvPr id="6" name="TextBox 5"/>
          <p:cNvSpPr txBox="1"/>
          <p:nvPr/>
        </p:nvSpPr>
        <p:spPr>
          <a:xfrm>
            <a:off x="6949440" y="1371600"/>
            <a:ext cx="4846320" cy="2194560"/>
          </a:xfrm>
          <a:prstGeom prst="rect">
            <a:avLst/>
          </a:prstGeom>
          <a:noFill/>
        </p:spPr>
        <p:txBody>
          <a:bodyPr wrap="square">
            <a:spAutoFit/>
          </a:bodyPr>
          <a:lstStyle/>
          <a:p>
            <a:pPr algn="l"/>
            <a:r>
              <a:rPr sz="1200" b="0">
                <a:solidFill>
                  <a:srgbClr val="5A5F6B"/>
                </a:solidFill>
                <a:latin typeface="Consolas"/>
              </a:rPr>
              <a:t>benchmark.csv sample:
image,width,height,operation,tile,gpu_ms,cpu_ms
img_0000_gradient_256x256.png,256,256,blur,16,0.19,6.81
img_0000_gradient_256x256.png,256,256,blur,32,0.17,
img_0001_rings_320x320.png,320,320,equalize,16,0.11,0.55</a:t>
            </a:r>
          </a:p>
        </p:txBody>
      </p:sp>
      <p:sp>
        <p:nvSpPr>
          <p:cNvPr id="7" name="TextBox 6"/>
          <p:cNvSpPr txBox="1"/>
          <p:nvPr/>
        </p:nvSpPr>
        <p:spPr>
          <a:xfrm>
            <a:off x="6949440" y="3794760"/>
            <a:ext cx="4846320" cy="2377440"/>
          </a:xfrm>
          <a:prstGeom prst="rect">
            <a:avLst/>
          </a:prstGeom>
          <a:noFill/>
        </p:spPr>
        <p:txBody>
          <a:bodyPr wrap="square">
            <a:spAutoFit/>
          </a:bodyPr>
          <a:lstStyle/>
          <a:p>
            <a:pPr algn="l"/>
            <a:r>
              <a:rPr sz="1300" b="0">
                <a:solidFill>
                  <a:srgbClr val="14213D"/>
                </a:solidFill>
                <a:latin typeface="Calibri"/>
              </a:rPr>
              <a:t>CPU numbers above: single-threaded reference build,
32 images, includes blur tile sweep rows.
GPU column is filled in from results/benchmark.csv after the lab run — replace the placeholders before recording,
and quote the log's 'GPU kernel time by operation' block.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247120" cy="731520"/>
          </a:xfrm>
          <a:prstGeom prst="rect">
            <a:avLst/>
          </a:prstGeom>
          <a:noFill/>
        </p:spPr>
        <p:txBody>
          <a:bodyPr wrap="square">
            <a:spAutoFit/>
          </a:bodyPr>
          <a:lstStyle/>
          <a:p>
            <a:pPr algn="l"/>
            <a:r>
              <a:rPr sz="3000" b="1">
                <a:solidFill>
                  <a:srgbClr val="FFFFFF"/>
                </a:solidFill>
                <a:latin typeface="Calibri"/>
              </a:rPr>
              <a:t>Running at scale</a:t>
            </a:r>
          </a:p>
        </p:txBody>
      </p:sp>
      <p:sp>
        <p:nvSpPr>
          <p:cNvPr id="4" name="TextBox 3"/>
          <p:cNvSpPr txBox="1"/>
          <p:nvPr/>
        </p:nvSpPr>
        <p:spPr>
          <a:xfrm>
            <a:off x="640080" y="1371600"/>
            <a:ext cx="10972800" cy="4754880"/>
          </a:xfrm>
          <a:prstGeom prst="rect">
            <a:avLst/>
          </a:prstGeom>
          <a:noFill/>
        </p:spPr>
        <p:txBody>
          <a:bodyPr wrap="square">
            <a:spAutoFit/>
          </a:bodyPr>
          <a:lstStyle/>
          <a:p>
            <a:pPr>
              <a:spcAft>
                <a:spcPts val="600"/>
              </a:spcAft>
            </a:pPr>
            <a:r>
              <a:rPr sz="1700" b="1">
                <a:solidFill>
                  <a:srgbClr val="14213D"/>
                </a:solidFill>
                <a:latin typeface="Calibri"/>
              </a:rPr>
              <a:t>• Two datasets, generated deterministically</a:t>
            </a:r>
          </a:p>
          <a:p>
            <a:pPr>
              <a:spcAft>
                <a:spcPts val="600"/>
              </a:spcAft>
            </a:pPr>
            <a:r>
              <a:rPr sz="1400">
                <a:solidFill>
                  <a:srgbClr val="5A5F6B"/>
                </a:solidFill>
                <a:latin typeface="Calibri"/>
              </a:rPr>
              <a:t>     256 small images (256–512 px, 37 Mpx) + 24 large images (1536–2048 px, 79 Mpx); seven pattern families; seeded and reproducible with no internet access</a:t>
            </a:r>
          </a:p>
          <a:p>
            <a:pPr>
              <a:spcAft>
                <a:spcPts val="600"/>
              </a:spcAft>
            </a:pPr>
            <a:r>
              <a:rPr sz="1700" b="1">
                <a:solidFill>
                  <a:srgbClr val="14213D"/>
                </a:solidFill>
                <a:latin typeface="Calibri"/>
              </a:rPr>
              <a:t>• One command runs everything: bash run_lab.sh</a:t>
            </a:r>
          </a:p>
          <a:p>
            <a:pPr>
              <a:spcAft>
                <a:spcPts val="600"/>
              </a:spcAft>
            </a:pPr>
            <a:r>
              <a:rPr sz="1400">
                <a:solidFill>
                  <a:srgbClr val="5A5F6B"/>
                </a:solidFill>
                <a:latin typeface="Calibri"/>
              </a:rPr>
              <a:t>     builds with nvcc → kernel-emulation pre-flight test → full GPU run with --verify on both datasets → benchmark pass → collects logs, CSV and before/after samples into results/</a:t>
            </a:r>
          </a:p>
          <a:p>
            <a:pPr>
              <a:spcAft>
                <a:spcPts val="600"/>
              </a:spcAft>
            </a:pPr>
            <a:r>
              <a:rPr sz="1700" b="1">
                <a:solidFill>
                  <a:srgbClr val="14213D"/>
                </a:solidFill>
                <a:latin typeface="Calibri"/>
              </a:rPr>
              <a:t>• Artifacts travel through the repository</a:t>
            </a:r>
          </a:p>
          <a:p>
            <a:pPr>
              <a:spcAft>
                <a:spcPts val="600"/>
              </a:spcAft>
            </a:pPr>
            <a:r>
              <a:rPr sz="1400">
                <a:solidFill>
                  <a:srgbClr val="5A5F6B"/>
                </a:solidFill>
                <a:latin typeface="Calibri"/>
              </a:rPr>
              <a:t>     run logs, benchmark.csv and before/after image pairs are committed under results/ as the proof of execution</a:t>
            </a:r>
          </a:p>
          <a:p>
            <a:pPr>
              <a:spcAft>
                <a:spcPts val="600"/>
              </a:spcAft>
            </a:pPr>
            <a:r>
              <a:rPr sz="1700" b="1">
                <a:solidFill>
                  <a:srgbClr val="14213D"/>
                </a:solidFill>
                <a:latin typeface="Calibri"/>
              </a:rPr>
              <a:t>• A dataset-quality lesson baked into the generator</a:t>
            </a:r>
          </a:p>
          <a:p>
            <a:pPr>
              <a:spcAft>
                <a:spcPts val="600"/>
              </a:spcAft>
            </a:pPr>
            <a:r>
              <a:rPr sz="1400">
                <a:solidFill>
                  <a:srgbClr val="5A5F6B"/>
                </a:solidFill>
                <a:latin typeface="Calibri"/>
              </a:rPr>
              <a:t>     palettes are constrained to be high-contrast in luma, so patterns stay visible after grayscale conversion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247120" cy="731520"/>
          </a:xfrm>
          <a:prstGeom prst="rect">
            <a:avLst/>
          </a:prstGeom>
          <a:noFill/>
        </p:spPr>
        <p:txBody>
          <a:bodyPr wrap="square">
            <a:spAutoFit/>
          </a:bodyPr>
          <a:lstStyle/>
          <a:p>
            <a:pPr algn="l"/>
            <a:r>
              <a:rPr sz="3000" b="1">
                <a:solidFill>
                  <a:srgbClr val="FFFFFF"/>
                </a:solidFill>
                <a:latin typeface="Calibri"/>
              </a:rPr>
              <a:t>Lessons learned</a:t>
            </a:r>
          </a:p>
        </p:txBody>
      </p:sp>
      <p:sp>
        <p:nvSpPr>
          <p:cNvPr id="4" name="TextBox 3"/>
          <p:cNvSpPr txBox="1"/>
          <p:nvPr/>
        </p:nvSpPr>
        <p:spPr>
          <a:xfrm>
            <a:off x="640080" y="1371600"/>
            <a:ext cx="10972800" cy="4754880"/>
          </a:xfrm>
          <a:prstGeom prst="rect">
            <a:avLst/>
          </a:prstGeom>
          <a:noFill/>
        </p:spPr>
        <p:txBody>
          <a:bodyPr wrap="square">
            <a:spAutoFit/>
          </a:bodyPr>
          <a:lstStyle/>
          <a:p>
            <a:pPr>
              <a:spcAft>
                <a:spcPts val="600"/>
              </a:spcAft>
            </a:pPr>
            <a:r>
              <a:rPr sz="1800">
                <a:solidFill>
                  <a:srgbClr val="14213D"/>
                </a:solidFill>
                <a:latin typeface="Calibri"/>
              </a:rPr>
              <a:t>• Rounding semantics must match exactly across CPU and GPU (ties-to-even)</a:t>
            </a:r>
          </a:p>
          <a:p>
            <a:pPr>
              <a:spcAft>
                <a:spcPts val="600"/>
              </a:spcAft>
            </a:pPr>
            <a:r>
              <a:rPr sz="1800">
                <a:solidFill>
                  <a:srgbClr val="14213D"/>
                </a:solidFill>
                <a:latin typeface="Calibri"/>
              </a:rPr>
              <a:t>• FMA contraction reorders floating-point math → small, legitimate CPU/GPU differences → verify with tolerances, not equality</a:t>
            </a:r>
          </a:p>
          <a:p>
            <a:pPr>
              <a:spcAft>
                <a:spcPts val="600"/>
              </a:spcAft>
            </a:pPr>
            <a:r>
              <a:rPr sz="1800">
                <a:solidFill>
                  <a:srgbClr val="14213D"/>
                </a:solidFill>
                <a:latin typeface="Calibri"/>
              </a:rPr>
              <a:t>• Shared-memory tiling turns an O(radius) global-memory amplification into a single read per byte</a:t>
            </a:r>
          </a:p>
          <a:p>
            <a:pPr>
              <a:spcAft>
                <a:spcPts val="600"/>
              </a:spcAft>
            </a:pPr>
            <a:r>
              <a:rPr sz="1800">
                <a:solidFill>
                  <a:srgbClr val="14213D"/>
                </a:solidFill>
                <a:latin typeface="Calibri"/>
              </a:rPr>
              <a:t>• Event-based GPU time and wall time answer different questions — log both</a:t>
            </a:r>
          </a:p>
          <a:p>
            <a:pPr>
              <a:spcAft>
                <a:spcPts val="600"/>
              </a:spcAft>
            </a:pPr>
            <a:r>
              <a:rPr sz="1800">
                <a:solidFill>
                  <a:srgbClr val="14213D"/>
                </a:solidFill>
                <a:latin typeface="Calibri"/>
              </a:rPr>
              <a:t>• Pin your build environment: bleeding-edge glibc declares sinpi/cospi in ways that clash with CUDA's math headers</a:t>
            </a:r>
          </a:p>
          <a:p>
            <a:pPr>
              <a:spcAft>
                <a:spcPts val="600"/>
              </a:spcAft>
            </a:pPr>
            <a:r>
              <a:rPr sz="1800">
                <a:solidFill>
                  <a:srgbClr val="14213D"/>
                </a:solidFill>
                <a:latin typeface="Calibri"/>
              </a:rPr>
              <a:t>• Design for testability from day one: the CUDA-free interface is what made the emulation test possible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1247120" cy="731520"/>
          </a:xfrm>
          <a:prstGeom prst="rect">
            <a:avLst/>
          </a:prstGeom>
          <a:noFill/>
        </p:spPr>
        <p:txBody>
          <a:bodyPr wrap="square">
            <a:spAutoFit/>
          </a:bodyPr>
          <a:lstStyle/>
          <a:p>
            <a:pPr algn="l"/>
            <a:r>
              <a:rPr sz="3000" b="1">
                <a:solidFill>
                  <a:srgbClr val="FFFFFF"/>
                </a:solidFill>
                <a:latin typeface="Calibri"/>
              </a:rPr>
              <a:t>Demo &amp; repository</a:t>
            </a:r>
          </a:p>
        </p:txBody>
      </p:sp>
      <p:sp>
        <p:nvSpPr>
          <p:cNvPr id="4" name="TextBox 3"/>
          <p:cNvSpPr txBox="1"/>
          <p:nvPr/>
        </p:nvSpPr>
        <p:spPr>
          <a:xfrm>
            <a:off x="640080" y="1280160"/>
            <a:ext cx="6035040" cy="4206240"/>
          </a:xfrm>
          <a:prstGeom prst="rect">
            <a:avLst/>
          </a:prstGeom>
          <a:noFill/>
        </p:spPr>
        <p:txBody>
          <a:bodyPr wrap="square">
            <a:spAutoFit/>
          </a:bodyPr>
          <a:lstStyle/>
          <a:p>
            <a:pPr algn="l"/>
            <a:r>
              <a:rPr sz="1600" b="0">
                <a:solidFill>
                  <a:srgbClr val="14213D"/>
                </a:solidFill>
                <a:latin typeface="Consolas"/>
              </a:rPr>
              <a:t>Live demo:
  ./bin/imgproc -i data/small -o out --verify
  → log shows GPU device, per-op kernel times,
     and the verification table: ALL OPERATIONS PASS
  before_/after_ image pairs for every operation
  ./bin/imgproc -i data/small -o bench -op blur --bench
  → benchmark.csv + tile-size sweep</a:t>
            </a:r>
          </a:p>
        </p:txBody>
      </p:sp>
      <p:sp>
        <p:nvSpPr>
          <p:cNvPr id="5" name="Rounded Rectangle 4"/>
          <p:cNvSpPr/>
          <p:nvPr/>
        </p:nvSpPr>
        <p:spPr>
          <a:xfrm>
            <a:off x="7223760" y="2011680"/>
            <a:ext cx="4480560" cy="2194560"/>
          </a:xfrm>
          <a:prstGeom prst="roundRect">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Calibri"/>
              </a:rPr>
              <a:t>Code, datasets, logs &amp; slides:
github.com/OmBhandari47/
GPU-Programming-Specialization
(Course 3 &amp; Capstone folders)</a:t>
            </a:r>
          </a:p>
        </p:txBody>
      </p:sp>
      <p:sp>
        <p:nvSpPr>
          <p:cNvPr id="6" name="TextBox 5"/>
          <p:cNvSpPr txBox="1"/>
          <p:nvPr/>
        </p:nvSpPr>
        <p:spPr>
          <a:xfrm>
            <a:off x="640080" y="5760720"/>
            <a:ext cx="10972800" cy="548640"/>
          </a:xfrm>
          <a:prstGeom prst="rect">
            <a:avLst/>
          </a:prstGeom>
          <a:noFill/>
        </p:spPr>
        <p:txBody>
          <a:bodyPr wrap="square">
            <a:spAutoFit/>
          </a:bodyPr>
          <a:lstStyle/>
          <a:p>
            <a:pPr algn="ctr"/>
            <a:r>
              <a:rPr sz="2000" b="1">
                <a:solidFill>
                  <a:srgbClr val="FCA311"/>
                </a:solidFill>
                <a:latin typeface="Calibri"/>
              </a:rPr>
              <a:t>Thank you!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